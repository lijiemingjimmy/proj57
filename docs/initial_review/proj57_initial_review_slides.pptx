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Proj57 初赛演示材料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691640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FFFFFF"/>
                </a:solidFill>
                <a:latin typeface="Microsoft YaHei"/>
              </a:rPr>
              <a:t>面向具身智能的国产操作系统 ACT 模型适配与实时推理优化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" y="2468880"/>
            <a:ext cx="2331720" cy="420624"/>
          </a:xfrm>
          <a:prstGeom prst="roundRect">
            <a:avLst/>
          </a:prstGeom>
          <a:solidFill>
            <a:srgbClr val="23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Task3 已有保底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10128" y="2468880"/>
            <a:ext cx="2331720" cy="420624"/>
          </a:xfrm>
          <a:prstGeom prst="roundRect">
            <a:avLst/>
          </a:prstGeom>
          <a:solidFill>
            <a:srgbClr val="238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Task2 RK3588 已跑通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33872" y="2468880"/>
            <a:ext cx="2331720" cy="420624"/>
          </a:xfrm>
          <a:prstGeom prst="roundRect">
            <a:avLst/>
          </a:prstGeom>
          <a:solidFill>
            <a:srgbClr val="D6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下一步工程化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49884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Microsoft YaHei"/>
              </a:rPr>
              <a:t>演示主线：阶段总览、真实证据、性能数据、当前风险、下一步计划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0292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FFFFFF"/>
                </a:solidFill>
                <a:latin typeface="Microsoft YaHei"/>
              </a:rPr>
              <a:t>核心结论：ONNX -&gt; RKNN -&gt; Orange Pi RK3588 C++ runtime 已形成最小闭环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92640"/>
                </a:solidFill>
                <a:latin typeface="Microsoft YaHei"/>
              </a:rPr>
              <a:t>赛题任务与当前策略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370"/>
                </a:solidFill>
                <a:latin typeface="Microsoft YaHei"/>
              </a:rPr>
              <a:t>2/12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55680" cy="10972"/>
          </a:xfrm>
          <a:prstGeom prst="rect">
            <a:avLst/>
          </a:prstGeom>
          <a:solidFill>
            <a:srgbClr val="DB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3429000" cy="1691640"/>
          </a:xfrm>
          <a:prstGeom prst="rect">
            <a:avLst/>
          </a:prstGeom>
          <a:solidFill>
            <a:srgbClr val="F5F7F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73152" cy="1691640"/>
          </a:xfrm>
          <a:prstGeom prst="rect">
            <a:avLst/>
          </a:prstGeom>
          <a:solidFill>
            <a:srgbClr val="23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38074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2640"/>
                </a:solidFill>
                <a:latin typeface="Microsoft YaHei"/>
              </a:rPr>
              <a:t>任务三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64792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C6370"/>
                </a:solidFill>
                <a:latin typeface="Microsoft YaHei"/>
              </a:rPr>
              <a:t>QEMU / StarryOS CPU 跑通 ACT 推理，是初赛保底链路。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234440"/>
            <a:ext cx="3429000" cy="1691640"/>
          </a:xfrm>
          <a:prstGeom prst="rect">
            <a:avLst/>
          </a:prstGeom>
          <a:solidFill>
            <a:srgbClr val="F5F7F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234440"/>
            <a:ext cx="73152" cy="1691640"/>
          </a:xfrm>
          <a:prstGeom prst="rect">
            <a:avLst/>
          </a:prstGeom>
          <a:solidFill>
            <a:srgbClr val="238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38074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2640"/>
                </a:solidFill>
                <a:latin typeface="Microsoft YaHei"/>
              </a:rPr>
              <a:t>任务二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64792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C6370"/>
                </a:solidFill>
                <a:latin typeface="Microsoft YaHei"/>
              </a:rPr>
              <a:t>Orange Pi / RK3588 / NPU 跑通 ACT 推理，是当前硬件适配主线。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3" y="1234440"/>
            <a:ext cx="3429000" cy="1691640"/>
          </a:xfrm>
          <a:prstGeom prst="rect">
            <a:avLst/>
          </a:prstGeom>
          <a:solidFill>
            <a:srgbClr val="F5F7F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234440"/>
            <a:ext cx="73152" cy="1691640"/>
          </a:xfrm>
          <a:prstGeom prst="rect">
            <a:avLst/>
          </a:prstGeom>
          <a:solidFill>
            <a:srgbClr val="D6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38074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2640"/>
                </a:solidFill>
                <a:latin typeface="Microsoft YaHei"/>
              </a:rPr>
              <a:t>任务一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764792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C6370"/>
                </a:solidFill>
                <a:latin typeface="Microsoft YaHei"/>
              </a:rPr>
              <a:t>SG2002 / 256 MB 资源约束最强，作为后续高难优化方向。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401568"/>
            <a:ext cx="10287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当前策略：任务三结果保底，任务二 RKNN/NPU 已完成最小闭环。</a:t>
            </a:r>
          </a:p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初赛展示重点：不是只展示想法，而是展示真实日志、模型文件、板端输出和性能数据。</a:t>
            </a:r>
          </a:p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后续路线：runtime 版本对齐、端到端 JPEG 输入、更多样例回归、资源优化。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92640"/>
                </a:solidFill>
                <a:latin typeface="Microsoft YaHei"/>
              </a:rPr>
              <a:t>阶段总览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370"/>
                </a:solidFill>
                <a:latin typeface="Microsoft YaHei"/>
              </a:rPr>
              <a:t>3/12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55680" cy="10972"/>
          </a:xfrm>
          <a:prstGeom prst="rect">
            <a:avLst/>
          </a:prstGeom>
          <a:solidFill>
            <a:srgbClr val="DB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已完成：模型权重下载、ONNX 导出、ONNX Runtime 正确性验证、本地 benchmark。</a:t>
            </a:r>
          </a:p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已完成：Orange Pi 5 Plus 板端登录、系统信息采集、NPU 节点与 RKNN runtime 探测。</a:t>
            </a:r>
          </a:p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已完成：ONNX 到 RKNN 转换，生成 build/act_rk3588_fp.rknn。</a:t>
            </a:r>
          </a:p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已完成：C++ RKNN runtime 上板运行，两个代表样例方向正确。</a:t>
            </a:r>
          </a:p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正在补齐：视频脚本、性能表、技术文档和可复现材料同步。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92640"/>
                </a:solidFill>
                <a:latin typeface="Microsoft YaHei"/>
              </a:rPr>
              <a:t>模型与推理链路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370"/>
                </a:solidFill>
                <a:latin typeface="Microsoft YaHei"/>
              </a:rPr>
              <a:t>4/12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55680" cy="10972"/>
          </a:xfrm>
          <a:prstGeom prst="rect">
            <a:avLst/>
          </a:prstGeom>
          <a:solidFill>
            <a:srgbClr val="DB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143000"/>
            <a:ext cx="5349240" cy="1463040"/>
          </a:xfrm>
          <a:prstGeom prst="rect">
            <a:avLst/>
          </a:prstGeom>
          <a:solidFill>
            <a:srgbClr val="F5F7F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143000"/>
            <a:ext cx="73152" cy="1463040"/>
          </a:xfrm>
          <a:prstGeom prst="rect">
            <a:avLst/>
          </a:prstGeom>
          <a:solidFill>
            <a:srgbClr val="23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28930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2640"/>
                </a:solidFill>
                <a:latin typeface="Microsoft YaHei"/>
              </a:rPr>
              <a:t>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673352"/>
            <a:ext cx="5029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C6370"/>
                </a:solidFill>
                <a:latin typeface="Microsoft YaHei"/>
              </a:rPr>
              <a:t>image [1,3,224,224]
state [1,2]
latent [1,32]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143000"/>
            <a:ext cx="5349240" cy="1463040"/>
          </a:xfrm>
          <a:prstGeom prst="rect">
            <a:avLst/>
          </a:prstGeom>
          <a:solidFill>
            <a:srgbClr val="F5F7F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143000"/>
            <a:ext cx="73152" cy="1463040"/>
          </a:xfrm>
          <a:prstGeom prst="rect">
            <a:avLst/>
          </a:prstGeom>
          <a:solidFill>
            <a:srgbClr val="238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8930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2640"/>
                </a:solidFill>
                <a:latin typeface="Microsoft YaHei"/>
              </a:rPr>
              <a:t>输出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73352"/>
            <a:ext cx="5029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C6370"/>
                </a:solidFill>
                <a:latin typeface="Microsoft YaHei"/>
              </a:rPr>
              <a:t>action [1,8,3]
每步包含 left_vel / right_vel / gripper_target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ONNX 链路：model.pt -&gt; act.onnx -&gt; ONNX Runtime -&gt; action -&gt; LEFT/RIGHT。</a:t>
            </a:r>
          </a:p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RKNN 链路：act.onnx -&gt; act_rk3588_fp.rknn -&gt; librknnrt -&gt; RK3588/NPU -&gt; action -&gt; LEFT/RIGHT。</a:t>
            </a:r>
          </a:p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方向判断：left_vel &lt; right_vel 为 LEFT，left_vel &gt; right_vel 为 RIGHT。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92640"/>
                </a:solidFill>
                <a:latin typeface="Microsoft YaHei"/>
              </a:rPr>
              <a:t>真实证据 1：ONNX 正确性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370"/>
                </a:solidFill>
                <a:latin typeface="Microsoft YaHei"/>
              </a:rPr>
              <a:t>5/12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55680" cy="10972"/>
          </a:xfrm>
          <a:prstGeom prst="rect">
            <a:avLst/>
          </a:prstGeom>
          <a:solidFill>
            <a:srgbClr val="DB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已生成 ONNX 模型：build/act.onnx，202,633,726 bytes，约 193.25 MB。</a:t>
            </a:r>
          </a:p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校验命令：python tools/check_onnx.py。</a:t>
            </a:r>
          </a:p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frame_000000.jpg -&gt; LEFT，符合预期。</a:t>
            </a:r>
          </a:p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frame_000227.jpg -&gt; RIGHT，符合预期。</a:t>
            </a:r>
          </a:p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证据文件：artifacts/onnx/check_output.txt、docs/initial_review/baseline_result.md。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92640"/>
                </a:solidFill>
                <a:latin typeface="Microsoft YaHei"/>
              </a:rPr>
              <a:t>真实证据 2：RK3588 板端环境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370"/>
                </a:solidFill>
                <a:latin typeface="Microsoft YaHei"/>
              </a:rPr>
              <a:t>6/12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55680" cy="10972"/>
          </a:xfrm>
          <a:prstGeom prst="rect">
            <a:avLst/>
          </a:prstGeom>
          <a:solidFill>
            <a:srgbClr val="DB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92640"/>
                </a:solidFill>
                <a:latin typeface="Microsoft YaHei"/>
              </a:defRPr>
            </a:pPr>
            <a:r>
              <a:t>开发板：Orange Pi 5 Plus，RK3588，aarch64。</a:t>
            </a:r>
          </a:p>
          <a:p>
            <a:pPr>
              <a:spcAft>
                <a:spcPts val="800"/>
              </a:spcAft>
              <a:defRPr sz="1900">
                <a:solidFill>
                  <a:srgbClr val="192640"/>
                </a:solidFill>
                <a:latin typeface="Microsoft YaHei"/>
              </a:defRPr>
            </a:pPr>
            <a:r>
              <a:t>系统：Ubuntu 22.04.5 LTS，Rockchip 5.10 内核。</a:t>
            </a:r>
          </a:p>
          <a:p>
            <a:pPr>
              <a:spcAft>
                <a:spcPts val="800"/>
              </a:spcAft>
              <a:defRPr sz="1900">
                <a:solidFill>
                  <a:srgbClr val="192640"/>
                </a:solidFill>
                <a:latin typeface="Microsoft YaHei"/>
              </a:defRPr>
            </a:pPr>
            <a:r>
              <a:t>内存：约 3.8 GiB，可支撑任务二验证。</a:t>
            </a:r>
          </a:p>
          <a:p>
            <a:pPr>
              <a:spcAft>
                <a:spcPts val="800"/>
              </a:spcAft>
              <a:defRPr sz="1900">
                <a:solidFill>
                  <a:srgbClr val="192640"/>
                </a:solidFill>
                <a:latin typeface="Microsoft YaHei"/>
              </a:defRPr>
            </a:pPr>
            <a:r>
              <a:t>已发现 NPU DRM 节点和 RKNPU 内核初始化日志。</a:t>
            </a:r>
          </a:p>
          <a:p>
            <a:pPr>
              <a:spcAft>
                <a:spcPts val="800"/>
              </a:spcAft>
              <a:defRPr sz="1900">
                <a:solidFill>
                  <a:srgbClr val="192640"/>
                </a:solidFill>
                <a:latin typeface="Microsoft YaHei"/>
              </a:defRPr>
            </a:pPr>
            <a:r>
              <a:t>已确认 /usr/lib/librknnrt.so 与 RKNN 头文件存在。</a:t>
            </a:r>
          </a:p>
        </p:txBody>
      </p:sp>
      <p:pic>
        <p:nvPicPr>
          <p:cNvPr id="7" name="Picture 6" descr="codex-clipboard-D8spv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621" y="1097280"/>
            <a:ext cx="3667596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92640"/>
                </a:solidFill>
                <a:latin typeface="Microsoft YaHei"/>
              </a:rPr>
              <a:t>真实证据 3：RKNN/NPU 运行结果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370"/>
                </a:solidFill>
                <a:latin typeface="Microsoft YaHei"/>
              </a:rPr>
              <a:t>7/12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55680" cy="10972"/>
          </a:xfrm>
          <a:prstGeom prst="rect">
            <a:avLst/>
          </a:prstGeom>
          <a:solidFill>
            <a:srgbClr val="DB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RKNN 模型：build/act_rk3588_fp.rknn，101,709,294 bytes，约 97.0 MiB。</a:t>
            </a:r>
          </a:p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C++ runtime：tools/rknn_runtime_infer.cpp。</a:t>
            </a:r>
          </a:p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frame_000000：LEFT，rknn_perf_run_us=34968，wall_ms=34.998。</a:t>
            </a:r>
          </a:p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frame_000227：RIGHT，rknn_perf_run_us=25340，wall_ms=25.364。</a:t>
            </a:r>
          </a:p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证据文件：artifacts/rknn/runtime_log_frame000_nhwc.txt、runtime_log_frame227_nhwc.txt。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5696712"/>
            <a:ext cx="2331720" cy="420624"/>
          </a:xfrm>
          <a:prstGeom prst="roundRect">
            <a:avLst/>
          </a:prstGeom>
          <a:solidFill>
            <a:srgbClr val="238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任务二最小闭环已跑通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92640"/>
                </a:solidFill>
                <a:latin typeface="Microsoft YaHei"/>
              </a:rPr>
              <a:t>性能与资源数据表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370"/>
                </a:solidFill>
                <a:latin typeface="Microsoft YaHei"/>
              </a:rPr>
              <a:t>8/12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55680" cy="10972"/>
          </a:xfrm>
          <a:prstGeom prst="rect">
            <a:avLst/>
          </a:prstGeom>
          <a:solidFill>
            <a:srgbClr val="DB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39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554480"/>
                <a:gridCol w="1417320"/>
                <a:gridCol w="1691640"/>
                <a:gridCol w="1874519"/>
                <a:gridCol w="2697480"/>
              </a:tblGrid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平台</a:t>
                      </a:r>
                    </a:p>
                  </a:txBody>
                  <a:tcPr>
                    <a:solidFill>
                      <a:srgbClr val="236F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后端</a:t>
                      </a:r>
                    </a:p>
                  </a:txBody>
                  <a:tcPr>
                    <a:solidFill>
                      <a:srgbClr val="236F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236F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模型大小</a:t>
                      </a:r>
                    </a:p>
                  </a:txBody>
                  <a:tcPr>
                    <a:solidFill>
                      <a:srgbClr val="236F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推理耗时</a:t>
                      </a:r>
                    </a:p>
                  </a:txBody>
                  <a:tcPr>
                    <a:solidFill>
                      <a:srgbClr val="236F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236FB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640"/>
                          </a:solidFill>
                          <a:latin typeface="Microsoft YaHei"/>
                        </a:defRPr>
                      </a:pPr>
                      <a:r>
                        <a:t>StarryOS/QEMU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640"/>
                          </a:solidFill>
                          <a:latin typeface="Microsoft YaHei"/>
                        </a:defRPr>
                      </a:pPr>
                      <a:r>
                        <a:t>ONNX 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640"/>
                          </a:solidFill>
                          <a:latin typeface="Microsoft YaHei"/>
                        </a:defRPr>
                      </a:pPr>
                      <a:r>
                        <a:t>已有报告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640"/>
                          </a:solidFill>
                          <a:latin typeface="Microsoft YaHei"/>
                        </a:defRPr>
                      </a:pPr>
                      <a:r>
                        <a:t>193.2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640"/>
                          </a:solidFill>
                          <a:latin typeface="Microsoft YaHei"/>
                        </a:defRPr>
                      </a:pPr>
                      <a:r>
                        <a:t>18.4-18.7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640"/>
                          </a:solidFill>
                          <a:latin typeface="Microsoft YaHei"/>
                        </a:defRPr>
                      </a:pPr>
                      <a:r>
                        <a:t>LEFT/RIGHT 正确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640"/>
                          </a:solidFill>
                          <a:latin typeface="Microsoft YaHei"/>
                        </a:defRPr>
                      </a:pPr>
                      <a:r>
                        <a:t>Windows 本机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640"/>
                          </a:solidFill>
                          <a:latin typeface="Microsoft YaHei"/>
                        </a:defRPr>
                      </a:pPr>
                      <a:r>
                        <a:t>ONNX CPU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640"/>
                          </a:solidFill>
                          <a:latin typeface="Microsoft YaHei"/>
                        </a:defRPr>
                      </a:pPr>
                      <a:r>
                        <a:t>已复现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640"/>
                          </a:solidFill>
                          <a:latin typeface="Microsoft YaHei"/>
                        </a:defRPr>
                      </a:pPr>
                      <a:r>
                        <a:t>193.25 MB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640"/>
                          </a:solidFill>
                          <a:latin typeface="Microsoft YaHei"/>
                        </a:defRPr>
                      </a:pPr>
                      <a:r>
                        <a:t>25.91-26.78 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640"/>
                          </a:solidFill>
                          <a:latin typeface="Microsoft YaHei"/>
                        </a:defRPr>
                      </a:pPr>
                      <a:r>
                        <a:t>LEFT/RIGHT 正确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640"/>
                          </a:solidFill>
                          <a:latin typeface="Microsoft YaHei"/>
                        </a:defRPr>
                      </a:pPr>
                      <a:r>
                        <a:t>Orange Pi RK3588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640"/>
                          </a:solidFill>
                          <a:latin typeface="Microsoft YaHei"/>
                        </a:defRPr>
                      </a:pPr>
                      <a:r>
                        <a:t>RKNN/NPU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640"/>
                          </a:solidFill>
                          <a:latin typeface="Microsoft YaHei"/>
                        </a:defRPr>
                      </a:pPr>
                      <a:r>
                        <a:t>已跑通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640"/>
                          </a:solidFill>
                          <a:latin typeface="Microsoft YaHei"/>
                        </a:defRPr>
                      </a:pPr>
                      <a:r>
                        <a:t>97.0 MiB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640"/>
                          </a:solidFill>
                          <a:latin typeface="Microsoft YaHei"/>
                        </a:defRPr>
                      </a:pPr>
                      <a:r>
                        <a:t>25.34-35.00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640"/>
                          </a:solidFill>
                          <a:latin typeface="Microsoft YaHei"/>
                        </a:defRPr>
                      </a:pPr>
                      <a:r>
                        <a:t>LEFT/RIGHT 正确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343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5C6370"/>
                </a:solidFill>
                <a:latin typeface="Microsoft YaHei"/>
              </a:defRPr>
            </a:pPr>
            <a:r>
              <a:t>RKNN 结果当前只覆盖两个代表样例，后续需要扩展回归集和稳定性统计。</a:t>
            </a:r>
          </a:p>
          <a:p>
            <a:pPr>
              <a:spcAft>
                <a:spcPts val="800"/>
              </a:spcAft>
              <a:defRPr sz="1700">
                <a:solidFill>
                  <a:srgbClr val="5C6370"/>
                </a:solidFill>
                <a:latin typeface="Microsoft YaHei"/>
              </a:defRPr>
            </a:pPr>
            <a:r>
              <a:t>板端 runtime 有版本警告，因此视频中应展示关键行并主动解释。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92640"/>
                </a:solidFill>
                <a:latin typeface="Microsoft YaHei"/>
              </a:rPr>
              <a:t>当前工程产物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370"/>
                </a:solidFill>
                <a:latin typeface="Microsoft YaHei"/>
              </a:rPr>
              <a:t>9/12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55680" cy="10972"/>
          </a:xfrm>
          <a:prstGeom prst="rect">
            <a:avLst/>
          </a:prstGeom>
          <a:solidFill>
            <a:srgbClr val="DB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92640"/>
                </a:solidFill>
                <a:latin typeface="Microsoft YaHei"/>
              </a:defRPr>
            </a:pPr>
            <a:r>
              <a:t>模型权重：output/train/model.pt，202,962,639 bytes。</a:t>
            </a:r>
          </a:p>
          <a:p>
            <a:pPr>
              <a:spcAft>
                <a:spcPts val="800"/>
              </a:spcAft>
              <a:defRPr sz="1900">
                <a:solidFill>
                  <a:srgbClr val="192640"/>
                </a:solidFill>
                <a:latin typeface="Microsoft YaHei"/>
              </a:defRPr>
            </a:pPr>
            <a:r>
              <a:t>ONNX 模型：build/act.onnx，202,633,726 bytes。</a:t>
            </a:r>
          </a:p>
          <a:p>
            <a:pPr>
              <a:spcAft>
                <a:spcPts val="800"/>
              </a:spcAft>
              <a:defRPr sz="1900">
                <a:solidFill>
                  <a:srgbClr val="192640"/>
                </a:solidFill>
                <a:latin typeface="Microsoft YaHei"/>
              </a:defRPr>
            </a:pPr>
            <a:r>
              <a:t>RKNN 模型：build/act_rk3588_fp.rknn，101,709,294 bytes。</a:t>
            </a:r>
          </a:p>
          <a:p>
            <a:pPr>
              <a:spcAft>
                <a:spcPts val="800"/>
              </a:spcAft>
              <a:defRPr sz="1900">
                <a:solidFill>
                  <a:srgbClr val="192640"/>
                </a:solidFill>
                <a:latin typeface="Microsoft YaHei"/>
              </a:defRPr>
            </a:pPr>
            <a:r>
              <a:t>RKNN 转换脚本：tools/convert_act_rknn.py。</a:t>
            </a:r>
          </a:p>
          <a:p>
            <a:pPr>
              <a:spcAft>
                <a:spcPts val="800"/>
              </a:spcAft>
              <a:defRPr sz="1900">
                <a:solidFill>
                  <a:srgbClr val="192640"/>
                </a:solidFill>
                <a:latin typeface="Microsoft YaHei"/>
              </a:defRPr>
            </a:pPr>
            <a:r>
              <a:t>RKNN runtime：tools/rknn_runtime_infer.cpp。</a:t>
            </a:r>
          </a:p>
          <a:p>
            <a:pPr>
              <a:spcAft>
                <a:spcPts val="800"/>
              </a:spcAft>
              <a:defRPr sz="1900">
                <a:solidFill>
                  <a:srgbClr val="192640"/>
                </a:solidFill>
                <a:latin typeface="Microsoft YaHei"/>
              </a:defRPr>
            </a:pPr>
            <a:r>
              <a:t>初审材料：技术文档、进度报告、演示脚本、性能表、PPT、PDF。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92640"/>
                </a:solidFill>
                <a:latin typeface="Microsoft YaHei"/>
              </a:rPr>
              <a:t>当前问题与风险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370"/>
                </a:solidFill>
                <a:latin typeface="Microsoft YaHei"/>
              </a:rPr>
              <a:t>10/12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55680" cy="10972"/>
          </a:xfrm>
          <a:prstGeom prst="rect">
            <a:avLst/>
          </a:prstGeom>
          <a:solidFill>
            <a:srgbClr val="DB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板端 RKNN runtime API 1.5.2 与 RKNN Toolkit2 2.3.2 不完全匹配。</a:t>
            </a:r>
          </a:p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运行时会打印 invalid run task counter 警告，但仍能返回输出和耗时。</a:t>
            </a:r>
          </a:p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当前 C++ runtime 使用预处理后的 tensor bin，尚未直接支持 JPEG 输入。</a:t>
            </a:r>
          </a:p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当前只验证两个代表样例，仍需更多样例和长时间稳定性测试。</a:t>
            </a:r>
          </a:p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后续任务一 SG2002 内存只有 256 MB，需要模型裁剪、量化或更激进的算子拆分。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92640"/>
                </a:solidFill>
                <a:latin typeface="Microsoft YaHei"/>
              </a:rPr>
              <a:t>初赛演示视频安排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370"/>
                </a:solidFill>
                <a:latin typeface="Microsoft YaHei"/>
              </a:rPr>
              <a:t>11/12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55680" cy="10972"/>
          </a:xfrm>
          <a:prstGeom prst="rect">
            <a:avLst/>
          </a:prstGeom>
          <a:solidFill>
            <a:srgbClr val="DB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143000"/>
            <a:ext cx="2057400" cy="1143000"/>
          </a:xfrm>
          <a:prstGeom prst="rect">
            <a:avLst/>
          </a:prstGeom>
          <a:solidFill>
            <a:srgbClr val="F5F7F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143000"/>
            <a:ext cx="73152" cy="1143000"/>
          </a:xfrm>
          <a:prstGeom prst="rect">
            <a:avLst/>
          </a:prstGeom>
          <a:solidFill>
            <a:srgbClr val="23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289304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2640"/>
                </a:solidFill>
                <a:latin typeface="Microsoft YaHei"/>
              </a:rPr>
              <a:t>20s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67335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C6370"/>
                </a:solidFill>
                <a:latin typeface="Microsoft YaHei"/>
              </a:rPr>
              <a:t>开场：赛题目标、三档任务、当前路线。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9504" y="1143000"/>
            <a:ext cx="2057400" cy="1143000"/>
          </a:xfrm>
          <a:prstGeom prst="rect">
            <a:avLst/>
          </a:prstGeom>
          <a:solidFill>
            <a:srgbClr val="F5F7F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9504" y="1143000"/>
            <a:ext cx="73152" cy="1143000"/>
          </a:xfrm>
          <a:prstGeom prst="rect">
            <a:avLst/>
          </a:prstGeom>
          <a:solidFill>
            <a:srgbClr val="238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1289304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2640"/>
                </a:solidFill>
                <a:latin typeface="Microsoft YaHei"/>
              </a:rPr>
              <a:t>60s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167335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C6370"/>
                </a:solidFill>
                <a:latin typeface="Microsoft YaHei"/>
              </a:rPr>
              <a:t>硬件：Orange Pi、SSH、NPU 节点。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143000"/>
            <a:ext cx="2057400" cy="1143000"/>
          </a:xfrm>
          <a:prstGeom prst="rect">
            <a:avLst/>
          </a:prstGeom>
          <a:solidFill>
            <a:srgbClr val="F5F7F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1143000"/>
            <a:ext cx="73152" cy="1143000"/>
          </a:xfrm>
          <a:prstGeom prst="rect">
            <a:avLst/>
          </a:prstGeom>
          <a:solidFill>
            <a:srgbClr val="23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7" y="1289304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2640"/>
                </a:solidFill>
                <a:latin typeface="Microsoft YaHei"/>
              </a:rPr>
              <a:t>70s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7" y="167335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C6370"/>
                </a:solidFill>
                <a:latin typeface="Microsoft YaHei"/>
              </a:rPr>
              <a:t>基线：ONNX 正确性与 Task3 输出。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51775" y="1143000"/>
            <a:ext cx="2057400" cy="1143000"/>
          </a:xfrm>
          <a:prstGeom prst="rect">
            <a:avLst/>
          </a:prstGeom>
          <a:solidFill>
            <a:srgbClr val="F5F7F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51775" y="1143000"/>
            <a:ext cx="73152" cy="1143000"/>
          </a:xfrm>
          <a:prstGeom prst="rect">
            <a:avLst/>
          </a:prstGeom>
          <a:solidFill>
            <a:srgbClr val="238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944" y="1289304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2640"/>
                </a:solidFill>
                <a:latin typeface="Microsoft YaHei"/>
              </a:rPr>
              <a:t>120s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944" y="167335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C6370"/>
                </a:solidFill>
                <a:latin typeface="Microsoft YaHei"/>
              </a:rPr>
              <a:t>任务二：RKNN 输出、耗时、日志证据。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82912" y="1143000"/>
            <a:ext cx="2057400" cy="1143000"/>
          </a:xfrm>
          <a:prstGeom prst="rect">
            <a:avLst/>
          </a:prstGeom>
          <a:solidFill>
            <a:srgbClr val="F5F7F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82912" y="1143000"/>
            <a:ext cx="73152" cy="1143000"/>
          </a:xfrm>
          <a:prstGeom prst="rect">
            <a:avLst/>
          </a:prstGeom>
          <a:solidFill>
            <a:srgbClr val="D6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1289304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2640"/>
                </a:solidFill>
                <a:latin typeface="Microsoft YaHei"/>
              </a:rPr>
              <a:t>40s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167335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C6370"/>
                </a:solidFill>
                <a:latin typeface="Microsoft YaHei"/>
              </a:rPr>
              <a:t>结尾：风险边界和下一步计划。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06324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录制时只展示 RKNN 日志关键行，避免警告刷屏影响观感。</a:t>
            </a:r>
          </a:p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必须主动说明：版本警告存在，但方向、输出和耗时均已返回。</a:t>
            </a:r>
          </a:p>
          <a:p>
            <a:pPr>
              <a:spcAft>
                <a:spcPts val="800"/>
              </a:spcAft>
              <a:defRPr sz="2000">
                <a:solidFill>
                  <a:srgbClr val="192640"/>
                </a:solidFill>
                <a:latin typeface="Microsoft YaHei"/>
              </a:defRPr>
            </a:pPr>
            <a:r>
              <a:t>不要把 Task3 说成现场完整跑 QEMU；更稳妥的说法是展示已有报告输出。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92640"/>
                </a:solidFill>
                <a:latin typeface="Microsoft YaHei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41148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370"/>
                </a:solidFill>
                <a:latin typeface="Microsoft YaHei"/>
              </a:rPr>
              <a:t>12/12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55680" cy="10972"/>
          </a:xfrm>
          <a:prstGeom prst="rect">
            <a:avLst/>
          </a:prstGeom>
          <a:solidFill>
            <a:srgbClr val="DB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92640"/>
                </a:solidFill>
                <a:latin typeface="Microsoft YaHei"/>
              </a:defRPr>
            </a:pPr>
            <a:r>
              <a:t>任务三链路已有正确性和性能证据，可作为初赛保底。</a:t>
            </a:r>
          </a:p>
          <a:p>
            <a:pPr>
              <a:spcAft>
                <a:spcPts val="800"/>
              </a:spcAft>
              <a:defRPr sz="2200">
                <a:solidFill>
                  <a:srgbClr val="192640"/>
                </a:solidFill>
                <a:latin typeface="Microsoft YaHei"/>
              </a:defRPr>
            </a:pPr>
            <a:r>
              <a:t>任务二已完成 RK3588/RKNN/NPU 最小闭环。</a:t>
            </a:r>
          </a:p>
          <a:p>
            <a:pPr>
              <a:spcAft>
                <a:spcPts val="800"/>
              </a:spcAft>
              <a:defRPr sz="2200">
                <a:solidFill>
                  <a:srgbClr val="192640"/>
                </a:solidFill>
                <a:latin typeface="Microsoft YaHei"/>
              </a:defRPr>
            </a:pPr>
            <a:r>
              <a:t>当前重点从“能不能跑”转为“runtime 版本对齐、稳定性和工程化”。</a:t>
            </a:r>
          </a:p>
          <a:p>
            <a:pPr>
              <a:spcAft>
                <a:spcPts val="800"/>
              </a:spcAft>
              <a:defRPr sz="2200">
                <a:solidFill>
                  <a:srgbClr val="192640"/>
                </a:solidFill>
                <a:latin typeface="Microsoft YaHei"/>
              </a:defRPr>
            </a:pPr>
            <a:r>
              <a:t>初赛展示重点：真实证据清晰、数据表完整、问题边界明确、后续路径可执行。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5577840"/>
            <a:ext cx="2331720" cy="420624"/>
          </a:xfrm>
          <a:prstGeom prst="roundRect">
            <a:avLst/>
          </a:prstGeom>
          <a:solidFill>
            <a:srgbClr val="23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ONNX 正确性已复现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5577840"/>
            <a:ext cx="2331720" cy="420624"/>
          </a:xfrm>
          <a:prstGeom prst="roundRect">
            <a:avLst/>
          </a:prstGeom>
          <a:solidFill>
            <a:srgbClr val="238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RKNN 板端已跑通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312" y="5577840"/>
            <a:ext cx="2331720" cy="420624"/>
          </a:xfrm>
          <a:prstGeom prst="roundRect">
            <a:avLst/>
          </a:prstGeom>
          <a:solidFill>
            <a:srgbClr val="D6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下一步工程化优化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